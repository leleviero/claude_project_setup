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62" r:id="rId5"/>
    <p:sldId id="259" r:id="rId6"/>
    <p:sldId id="260" r:id="rId7"/>
    <p:sldId id="261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626"/>
    <a:srgbClr val="615D71"/>
    <a:srgbClr val="E25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229301939180721"/>
          <c:y val="6.962220526601165E-2"/>
          <c:w val="0.55042703651410563"/>
          <c:h val="0.87934515384275991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SCM</c:v>
                </c:pt>
              </c:strCache>
            </c:strRef>
          </c:tx>
          <c:spPr>
            <a:solidFill>
              <a:srgbClr val="3E78A0">
                <a:alpha val="30000"/>
              </a:srgbClr>
            </a:solidFill>
            <a:ln w="31750" cap="flat">
              <a:solidFill>
                <a:srgbClr val="3E78A0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Variety</c:v>
                </c:pt>
                <c:pt idx="1">
                  <c:v>Velocity</c:v>
                </c:pt>
                <c:pt idx="2">
                  <c:v>Volume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080E-4FBE-8FA1-06D25249BD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Blockchain</c:v>
                </c:pt>
              </c:strCache>
            </c:strRef>
          </c:tx>
          <c:spPr>
            <a:solidFill>
              <a:srgbClr val="523473">
                <a:alpha val="30000"/>
              </a:srgbClr>
            </a:solidFill>
            <a:ln w="31750" cap="flat">
              <a:solidFill>
                <a:srgbClr val="523473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Variety</c:v>
                </c:pt>
                <c:pt idx="1">
                  <c:v>Velocity</c:v>
                </c:pt>
                <c:pt idx="2">
                  <c:v>Volume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080E-4FBE-8FA1-06D25249BD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EDI</c:v>
                </c:pt>
              </c:strCache>
            </c:strRef>
          </c:tx>
          <c:spPr>
            <a:solidFill>
              <a:srgbClr val="D86C7D">
                <a:alpha val="30000"/>
              </a:srgbClr>
            </a:solidFill>
            <a:ln w="31750" cap="flat">
              <a:solidFill>
                <a:srgbClr val="D86C7D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Variety</c:v>
                </c:pt>
                <c:pt idx="1">
                  <c:v>Velocity</c:v>
                </c:pt>
                <c:pt idx="2">
                  <c:v>Volume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2-080E-4FBE-8FA1-06D25249BD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Visibility Platforms</c:v>
                </c:pt>
              </c:strCache>
            </c:strRef>
          </c:tx>
          <c:spPr>
            <a:solidFill>
              <a:srgbClr val="F9974D">
                <a:alpha val="30000"/>
              </a:srgbClr>
            </a:solidFill>
            <a:ln w="31750" cap="flat">
              <a:solidFill>
                <a:srgbClr val="F9974D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Variety</c:v>
                </c:pt>
                <c:pt idx="1">
                  <c:v>Velocity</c:v>
                </c:pt>
                <c:pt idx="2">
                  <c:v>Volume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3-080E-4FBE-8FA1-06D25249B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1" i="0" u="none" strike="noStrike">
                <a:solidFill>
                  <a:srgbClr val="0D0626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majorGridlines>
          <c:spPr>
            <a:ln w="6350" cap="flat">
              <a:solidFill>
                <a:srgbClr val="2A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229301939180721"/>
          <c:y val="6.962220526601165E-2"/>
          <c:w val="0.55042703651410563"/>
          <c:h val="0.87934515384275991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 SCM</c:v>
                </c:pt>
              </c:strCache>
            </c:strRef>
          </c:tx>
          <c:spPr>
            <a:solidFill>
              <a:srgbClr val="3E78A0">
                <a:alpha val="30000"/>
              </a:srgbClr>
            </a:solidFill>
            <a:ln w="31750" cap="flat">
              <a:solidFill>
                <a:srgbClr val="3E78A0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Transparency</c:v>
                </c:pt>
                <c:pt idx="1">
                  <c:v>Thrust</c:v>
                </c:pt>
                <c:pt idx="2">
                  <c:v>Transferability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07-4E94-B06E-F3006E5C78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Blockchain</c:v>
                </c:pt>
              </c:strCache>
            </c:strRef>
          </c:tx>
          <c:spPr>
            <a:solidFill>
              <a:srgbClr val="523473">
                <a:alpha val="30000"/>
              </a:srgbClr>
            </a:solidFill>
            <a:ln w="31750" cap="flat">
              <a:solidFill>
                <a:srgbClr val="523473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Transparency</c:v>
                </c:pt>
                <c:pt idx="1">
                  <c:v>Thrust</c:v>
                </c:pt>
                <c:pt idx="2">
                  <c:v>Transferability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07-4E94-B06E-F3006E5C78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EDI</c:v>
                </c:pt>
              </c:strCache>
            </c:strRef>
          </c:tx>
          <c:spPr>
            <a:solidFill>
              <a:srgbClr val="D86C7D">
                <a:alpha val="30000"/>
              </a:srgbClr>
            </a:solidFill>
            <a:ln w="31750" cap="flat">
              <a:solidFill>
                <a:srgbClr val="D86C7D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Transparency</c:v>
                </c:pt>
                <c:pt idx="1">
                  <c:v>Thrust</c:v>
                </c:pt>
                <c:pt idx="2">
                  <c:v>Transferability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07-4E94-B06E-F3006E5C78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Visibility Platforms</c:v>
                </c:pt>
              </c:strCache>
            </c:strRef>
          </c:tx>
          <c:spPr>
            <a:solidFill>
              <a:srgbClr val="F9974D">
                <a:alpha val="30000"/>
              </a:srgbClr>
            </a:solidFill>
            <a:ln w="31750" cap="flat">
              <a:solidFill>
                <a:srgbClr val="F9974D"/>
              </a:solidFill>
              <a:prstDash val="solid"/>
              <a:round/>
            </a:ln>
            <a:effectLst/>
          </c:spPr>
          <c:cat>
            <c:strRef>
              <c:f>Sheet1!$A$2:$A$4</c:f>
              <c:strCache>
                <c:ptCount val="3"/>
                <c:pt idx="0">
                  <c:v>Transparency</c:v>
                </c:pt>
                <c:pt idx="1">
                  <c:v>Thrust</c:v>
                </c:pt>
                <c:pt idx="2">
                  <c:v>Transferability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E07-4E94-B06E-F3006E5C7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1" i="0" u="none" strike="noStrike">
                <a:solidFill>
                  <a:srgbClr val="0D0626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majorGridlines>
          <c:spPr>
            <a:ln w="6350" cap="flat">
              <a:solidFill>
                <a:srgbClr val="2A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23830-CDD5-44B4-86CB-E6740030AB55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C0867-580D-4A8C-87CB-36E0D73EC3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21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E0372-1C0B-4A33-94E7-2D0687D6357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48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orange background with a star&#10;&#10;AI-generated content may be incorrect.">
            <a:extLst>
              <a:ext uri="{FF2B5EF4-FFF2-40B4-BE49-F238E27FC236}">
                <a16:creationId xmlns:a16="http://schemas.microsoft.com/office/drawing/2014/main" id="{D8C1ED6A-A394-6735-5B2F-BDCCFC3DB3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083"/>
                    </a14:imgEffect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" y="0"/>
            <a:ext cx="14630400" cy="8229600"/>
          </a:xfrm>
          <a:prstGeom prst="rect">
            <a:avLst/>
          </a:prstGeom>
        </p:spPr>
      </p:pic>
      <p:pic>
        <p:nvPicPr>
          <p:cNvPr id="8" name="Picture 7" descr="A logo with a colorful gradient&#10;&#10;AI-generated content may be incorrect.">
            <a:extLst>
              <a:ext uri="{FF2B5EF4-FFF2-40B4-BE49-F238E27FC236}">
                <a16:creationId xmlns:a16="http://schemas.microsoft.com/office/drawing/2014/main" id="{CFFCD87E-AB43-F1CD-909A-468A44305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8" y="-522516"/>
            <a:ext cx="5486400" cy="822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30300E-C30F-9662-BE9C-7E4D0E1850BD}"/>
              </a:ext>
            </a:extLst>
          </p:cNvPr>
          <p:cNvSpPr txBox="1"/>
          <p:nvPr/>
        </p:nvSpPr>
        <p:spPr>
          <a:xfrm>
            <a:off x="-1" y="423507"/>
            <a:ext cx="14630399" cy="904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250" b="1" spc="240">
                <a:solidFill>
                  <a:schemeClr val="bg1"/>
                </a:solidFill>
                <a:latin typeface="Google Sans Flex" panose="020B0503030502040204" pitchFamily="34" charset="0"/>
                <a:ea typeface="Google Sans Flex" panose="020B0503030502040204" pitchFamily="34" charset="0"/>
                <a:cs typeface="Google Sans Flex" panose="020B0503030502040204" pitchFamily="34" charset="0"/>
              </a:rPr>
              <a:t>HYPERVOLUME</a:t>
            </a:r>
            <a:endParaRPr lang="en-GB" sz="5250" b="1" spc="240">
              <a:solidFill>
                <a:schemeClr val="bg1"/>
              </a:solidFill>
              <a:latin typeface="Google Sans Flex" panose="020B0503030502040204" pitchFamily="34" charset="0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9861E0-DA07-CBF5-1ABC-6FBB28ED01C5}"/>
              </a:ext>
            </a:extLst>
          </p:cNvPr>
          <p:cNvSpPr/>
          <p:nvPr/>
        </p:nvSpPr>
        <p:spPr>
          <a:xfrm>
            <a:off x="3735978" y="6757851"/>
            <a:ext cx="7123611" cy="1048242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592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EDC2A-96B8-E297-3B59-A1F81BCE720B}"/>
              </a:ext>
            </a:extLst>
          </p:cNvPr>
          <p:cNvSpPr txBox="1"/>
          <p:nvPr/>
        </p:nvSpPr>
        <p:spPr>
          <a:xfrm>
            <a:off x="1742041" y="6876592"/>
            <a:ext cx="11182862" cy="9304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250" spc="240">
                <a:solidFill>
                  <a:schemeClr val="bg1"/>
                </a:solidFill>
                <a:latin typeface="Google Sans Flex"/>
                <a:ea typeface="Google Sans Flex" panose="020B0503030502040204" pitchFamily="34" charset="0"/>
                <a:cs typeface="Google Sans Flex" panose="020B0503030502040204" pitchFamily="34" charset="0"/>
              </a:rPr>
              <a:t>The</a:t>
            </a:r>
            <a:r>
              <a:rPr lang="en-US" sz="5250" b="1" spc="240">
                <a:solidFill>
                  <a:schemeClr val="bg1"/>
                </a:solidFill>
                <a:latin typeface="Google Sans Flex"/>
                <a:ea typeface="Google Sans Flex" panose="020B0503030502040204" pitchFamily="34" charset="0"/>
                <a:cs typeface="Google Sans Flex" panose="020B0503030502040204" pitchFamily="34" charset="0"/>
              </a:rPr>
              <a:t> Fabric </a:t>
            </a:r>
            <a:r>
              <a:rPr lang="en-US" sz="5250" spc="240">
                <a:solidFill>
                  <a:schemeClr val="bg1"/>
                </a:solidFill>
                <a:latin typeface="Google Sans Flex"/>
                <a:ea typeface="Google Sans Flex" panose="020B0503030502040204" pitchFamily="34" charset="0"/>
                <a:cs typeface="Google Sans Flex" panose="020B0503030502040204" pitchFamily="34" charset="0"/>
              </a:rPr>
              <a:t>of</a:t>
            </a:r>
            <a:r>
              <a:rPr lang="en-US" sz="5250" b="1" spc="240">
                <a:solidFill>
                  <a:schemeClr val="bg1"/>
                </a:solidFill>
                <a:latin typeface="Google Sans Flex"/>
                <a:ea typeface="Google Sans Flex" panose="020B0503030502040204" pitchFamily="34" charset="0"/>
                <a:cs typeface="Google Sans Flex" panose="020B0503030502040204" pitchFamily="34" charset="0"/>
              </a:rPr>
              <a:t> Trust</a:t>
            </a:r>
            <a:endParaRPr lang="en-GB" sz="5250" b="1" spc="240">
              <a:solidFill>
                <a:schemeClr val="bg1"/>
              </a:solidFill>
              <a:latin typeface="Google Sans Flex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0020"/>
            <a:ext cx="1280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89018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D0626"/>
                </a:solidFill>
                <a:latin typeface="Arial"/>
              </a:defRPr>
            </a:pPr>
            <a:r>
              <a:rPr dirty="0"/>
              <a:t>A </a:t>
            </a:r>
            <a:r>
              <a:rPr lang="de-CH" dirty="0" err="1"/>
              <a:t>supply</a:t>
            </a:r>
            <a:r>
              <a:rPr lang="de-CH" dirty="0"/>
              <a:t> </a:t>
            </a:r>
            <a:r>
              <a:rPr lang="de-CH" dirty="0" err="1"/>
              <a:t>chain’s</a:t>
            </a:r>
            <a:r>
              <a:rPr lang="de-CH" dirty="0"/>
              <a:t> </a:t>
            </a:r>
            <a:r>
              <a:rPr lang="de-CH" dirty="0" err="1"/>
              <a:t>story</a:t>
            </a:r>
            <a:r>
              <a:rPr lang="de-CH" dirty="0"/>
              <a:t> </a:t>
            </a:r>
            <a:r>
              <a:rPr lang="de-CH" dirty="0" err="1"/>
              <a:t>struggle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6400800" cy="914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200" b="0">
                <a:solidFill>
                  <a:srgbClr val="615D71"/>
                </a:solidFill>
                <a:latin typeface="Arial"/>
              </a:defRPr>
            </a:pPr>
            <a:r>
              <a:rPr lang="en-GB" sz="2200" dirty="0"/>
              <a:t>Liability shifts to those who can't demonstrate compliance.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378916" y="1965960"/>
            <a:ext cx="73152" cy="1554480"/>
          </a:xfrm>
          <a:prstGeom prst="rect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 Flex" panose="020B050303050204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98956" y="278892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15D71"/>
                </a:solidFill>
                <a:latin typeface="Arial"/>
              </a:defRPr>
            </a:pPr>
            <a:r>
              <a:rPr dirty="0">
                <a:latin typeface="Google Sans Flex" panose="020B0503030502040204"/>
              </a:rPr>
              <a:t>Data </a:t>
            </a:r>
            <a:r>
              <a:rPr lang="de-CH" dirty="0" err="1">
                <a:latin typeface="Google Sans Flex" panose="020B0503030502040204"/>
              </a:rPr>
              <a:t>is</a:t>
            </a:r>
            <a:r>
              <a:rPr lang="de-CH" dirty="0">
                <a:latin typeface="Google Sans Flex" panose="020B0503030502040204"/>
              </a:rPr>
              <a:t> </a:t>
            </a:r>
            <a:r>
              <a:rPr dirty="0">
                <a:latin typeface="Google Sans Flex" panose="020B0503030502040204"/>
              </a:rPr>
              <a:t>scattered. Nothing verifiable.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8916" y="3886200"/>
            <a:ext cx="73152" cy="1554480"/>
          </a:xfrm>
          <a:prstGeom prst="rect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 Flex" panose="020B050303050204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98956" y="470916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15D71"/>
                </a:solidFill>
                <a:latin typeface="Arial"/>
              </a:defRPr>
            </a:pPr>
            <a:r>
              <a:rPr dirty="0">
                <a:latin typeface="Google Sans Flex" panose="020B0503030502040204"/>
              </a:rPr>
              <a:t>Legal exposure, </a:t>
            </a:r>
            <a:r>
              <a:rPr lang="de-CH" dirty="0" err="1">
                <a:latin typeface="Google Sans Flex" panose="020B0503030502040204"/>
              </a:rPr>
              <a:t>cause</a:t>
            </a:r>
            <a:r>
              <a:rPr lang="de-CH" dirty="0">
                <a:latin typeface="Google Sans Flex" panose="020B0503030502040204"/>
              </a:rPr>
              <a:t> </a:t>
            </a:r>
            <a:r>
              <a:rPr dirty="0">
                <a:latin typeface="Google Sans Flex" panose="020B0503030502040204"/>
              </a:rPr>
              <a:t>reputational damage.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78916" y="5806440"/>
            <a:ext cx="73152" cy="1554480"/>
          </a:xfrm>
          <a:prstGeom prst="rect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 Flex" panose="020B050303050204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98956" y="6629400"/>
            <a:ext cx="5120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15D71"/>
                </a:solidFill>
                <a:latin typeface="Arial"/>
              </a:defRPr>
            </a:pPr>
            <a:r>
              <a:rPr dirty="0">
                <a:latin typeface="Google Sans Flex" panose="020B0503030502040204"/>
              </a:rPr>
              <a:t>This is the </a:t>
            </a:r>
            <a:r>
              <a:rPr u="sng" dirty="0">
                <a:latin typeface="Google Sans Flex" panose="020B0503030502040204"/>
              </a:rPr>
              <a:t>default</a:t>
            </a:r>
            <a:r>
              <a:rPr dirty="0">
                <a:latin typeface="Google Sans Flex" panose="020B0503030502040204"/>
              </a:rPr>
              <a:t> state of enterprise data.</a:t>
            </a:r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6069FB45-CDFD-613A-4AB9-FBD9F75D6A4C}"/>
              </a:ext>
            </a:extLst>
          </p:cNvPr>
          <p:cNvSpPr/>
          <p:nvPr/>
        </p:nvSpPr>
        <p:spPr>
          <a:xfrm>
            <a:off x="7995138" y="2037658"/>
            <a:ext cx="27640" cy="5251564"/>
          </a:xfrm>
          <a:prstGeom prst="rect">
            <a:avLst/>
          </a:prstGeom>
          <a:solidFill>
            <a:srgbClr val="0D0626">
              <a:alpha val="50000"/>
            </a:srgbClr>
          </a:solidFill>
          <a:ln/>
        </p:spPr>
        <p:txBody>
          <a:bodyPr/>
          <a:lstStyle/>
          <a:p>
            <a:endParaRPr lang="en-GB">
              <a:latin typeface="Google Sans Flex" panose="020B0503030502040204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280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</a:t>
            </a:r>
            <a:r>
              <a:rPr dirty="0"/>
              <a:t> Shift</a:t>
            </a:r>
          </a:p>
        </p:txBody>
      </p:sp>
      <p:graphicFrame>
        <p:nvGraphicFramePr>
          <p:cNvPr id="23" name="Chart 0">
            <a:extLst>
              <a:ext uri="{FF2B5EF4-FFF2-40B4-BE49-F238E27FC236}">
                <a16:creationId xmlns:a16="http://schemas.microsoft.com/office/drawing/2014/main" id="{B03C1093-62E9-B42E-9DE7-27D3BAA9F7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1660765"/>
              </p:ext>
            </p:extLst>
          </p:nvPr>
        </p:nvGraphicFramePr>
        <p:xfrm>
          <a:off x="1892994" y="1962664"/>
          <a:ext cx="10844412" cy="6788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0E152B79-575B-5DFF-F4F5-2AD494EDADF5}"/>
              </a:ext>
            </a:extLst>
          </p:cNvPr>
          <p:cNvSpPr/>
          <p:nvPr/>
        </p:nvSpPr>
        <p:spPr>
          <a:xfrm>
            <a:off x="5085644" y="6266936"/>
            <a:ext cx="575733" cy="541867"/>
          </a:xfrm>
          <a:prstGeom prst="ellipse">
            <a:avLst/>
          </a:prstGeom>
          <a:gradFill>
            <a:gsLst>
              <a:gs pos="51500">
                <a:srgbClr val="615D71"/>
              </a:gs>
              <a:gs pos="0">
                <a:srgbClr val="E25B67"/>
              </a:gs>
              <a:gs pos="100000">
                <a:srgbClr val="0D0626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85449-6298-841B-D063-1EDACAF8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BB1EE625-26B7-2122-98F6-0C5D8E288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061530"/>
              </p:ext>
            </p:extLst>
          </p:nvPr>
        </p:nvGraphicFramePr>
        <p:xfrm>
          <a:off x="1892994" y="1964664"/>
          <a:ext cx="10844412" cy="6788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EF48FF3-1861-5D96-0076-052F0EA4D5B1}"/>
              </a:ext>
            </a:extLst>
          </p:cNvPr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38F1C-2318-85A9-0405-5CCABE91276B}"/>
              </a:ext>
            </a:extLst>
          </p:cNvPr>
          <p:cNvSpPr txBox="1"/>
          <p:nvPr/>
        </p:nvSpPr>
        <p:spPr>
          <a:xfrm>
            <a:off x="731520" y="201168"/>
            <a:ext cx="1280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Shift</a:t>
            </a:r>
          </a:p>
        </p:txBody>
      </p:sp>
    </p:spTree>
    <p:extLst>
      <p:ext uri="{BB962C8B-B14F-4D97-AF65-F5344CB8AC3E}">
        <p14:creationId xmlns:p14="http://schemas.microsoft.com/office/powerpoint/2010/main" val="2298480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280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Hypervolume T3aaS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325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D0626"/>
                </a:solidFill>
                <a:latin typeface="Arial"/>
              </a:defRPr>
            </a:pPr>
            <a:r>
              <a:rPr dirty="0"/>
              <a:t>Trust, Transparency &amp; Transferability as a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280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15D71"/>
                </a:solidFill>
                <a:latin typeface="Arial"/>
              </a:defRPr>
            </a:pPr>
            <a:r>
              <a:rPr dirty="0"/>
              <a:t>A trust infrastructure layer. Not middleware.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41148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4114800" cy="73152"/>
          </a:xfrm>
          <a:prstGeom prst="rect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3657600"/>
            <a:ext cx="640080" cy="640080"/>
          </a:xfrm>
          <a:prstGeom prst="ellipse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3474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0626"/>
                </a:solidFill>
                <a:latin typeface="Arial"/>
              </a:defRPr>
            </a:pPr>
            <a:r>
              <a:t>Proprietary</a:t>
            </a:r>
            <a:br/>
            <a:r>
              <a:t>Persistence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15D71"/>
                </a:solidFill>
                <a:latin typeface="Arial"/>
              </a:defRPr>
            </a:pPr>
            <a:r>
              <a:t>Novel database paradigm</a:t>
            </a:r>
            <a:br/>
            <a:r>
              <a:t>for immutable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291840"/>
            <a:ext cx="41148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0" y="3291840"/>
            <a:ext cx="4114800" cy="73152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77840" y="3657600"/>
            <a:ext cx="640080" cy="640080"/>
          </a:xfrm>
          <a:prstGeom prst="ellipse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480560"/>
            <a:ext cx="3474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0626"/>
                </a:solidFill>
                <a:latin typeface="Arial"/>
              </a:defRPr>
            </a:pPr>
            <a:r>
              <a:rPr lang="de-CH" dirty="0"/>
              <a:t>Data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0626"/>
                </a:solidFill>
                <a:latin typeface="Arial"/>
              </a:defRPr>
            </a:pPr>
            <a:r>
              <a:rPr lang="de-CH" dirty="0" err="1"/>
              <a:t>Harmony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577840" y="55778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15D71"/>
                </a:solidFill>
                <a:latin typeface="Arial"/>
              </a:defRPr>
            </a:pPr>
            <a:r>
              <a:t>Cross-boundary verification</a:t>
            </a:r>
            <a:br/>
            <a:r>
              <a:t>without exposing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3291840"/>
            <a:ext cx="41148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75520" y="3291840"/>
            <a:ext cx="4114800" cy="73152"/>
          </a:xfrm>
          <a:prstGeom prst="rect">
            <a:avLst/>
          </a:prstGeom>
          <a:solidFill>
            <a:srgbClr val="3A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9840" y="3657600"/>
            <a:ext cx="640080" cy="640080"/>
          </a:xfrm>
          <a:prstGeom prst="ellipse">
            <a:avLst/>
          </a:prstGeom>
          <a:solidFill>
            <a:srgbClr val="3A7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4480560"/>
            <a:ext cx="3474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D0626"/>
                </a:solidFill>
                <a:latin typeface="Arial"/>
              </a:defRPr>
            </a:pPr>
            <a:r>
              <a:t>Universal</a:t>
            </a:r>
            <a:br/>
            <a:r>
              <a:t>API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557784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15D71"/>
                </a:solidFill>
                <a:latin typeface="Arial"/>
              </a:defRPr>
            </a:pPr>
            <a:r>
              <a:t>Connects to any system.</a:t>
            </a:r>
            <a:br/>
            <a:r>
              <a:t>No forced migration.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132320"/>
            <a:ext cx="1280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15D71"/>
                </a:solidFill>
                <a:latin typeface="Arial"/>
              </a:defRPr>
            </a:pPr>
            <a:r>
              <a:t>Native Selective Disclosure  |  Universal Provenance Protocol  |  Domain-Aware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"/>
            <a:ext cx="1280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The Market</a:t>
            </a:r>
            <a:r>
              <a:rPr lang="en-GB" dirty="0"/>
              <a:t> </a:t>
            </a:r>
            <a:r>
              <a:rPr lang="en-GB" dirty="0" err="1"/>
              <a:t>Opportunit</a:t>
            </a:r>
            <a:r>
              <a:rPr lang="de-CH" dirty="0"/>
              <a:t>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881902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E25B67"/>
                </a:solidFill>
                <a:latin typeface="Arial"/>
              </a:defRPr>
            </a:pPr>
            <a:r>
              <a:rPr dirty="0"/>
              <a:t>€</a:t>
            </a:r>
            <a:r>
              <a:rPr lang="en-GB" dirty="0"/>
              <a:t>1T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D0626"/>
                </a:solidFill>
                <a:latin typeface="Arial"/>
              </a:defRPr>
            </a:pPr>
            <a:r>
              <a:t>Annual EU Compliance Burden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64008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0D0626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15D71"/>
                </a:solidFill>
                <a:latin typeface="Arial"/>
              </a:defRPr>
            </a:pPr>
            <a:r>
              <a:rPr dirty="0"/>
              <a:t>Addressed by technology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3120" y="2969698"/>
            <a:ext cx="4297680" cy="614102"/>
          </a:xfrm>
          <a:prstGeom prst="rect">
            <a:avLst/>
          </a:prstGeom>
          <a:solidFill>
            <a:srgbClr val="0D0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rPr sz="1600"/>
              <a:t>€900B+  EU Annual Compliance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5920" y="3903840"/>
            <a:ext cx="3512080" cy="612000"/>
          </a:xfrm>
          <a:prstGeom prst="rect">
            <a:avLst/>
          </a:prstGeom>
          <a:solidFill>
            <a:srgbClr val="615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€250B  Target Segment (TAM)</a:t>
            </a:r>
            <a:r>
              <a:rPr lang="de-CH" sz="1600" dirty="0"/>
              <a:t>g</a:t>
            </a:r>
            <a:endParaRPr sz="1600" dirty="0"/>
          </a:p>
        </p:txBody>
      </p:sp>
      <p:sp>
        <p:nvSpPr>
          <p:cNvPr id="10" name="Rectangle 9"/>
          <p:cNvSpPr/>
          <p:nvPr/>
        </p:nvSpPr>
        <p:spPr>
          <a:xfrm>
            <a:off x="10550666" y="4837982"/>
            <a:ext cx="2624773" cy="528898"/>
          </a:xfrm>
          <a:prstGeom prst="rect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€12.5B  Serviceable Market (SAM)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64711" y="5686920"/>
            <a:ext cx="1620538" cy="614102"/>
          </a:xfrm>
          <a:prstGeom prst="rect">
            <a:avLst/>
          </a:prstGeom>
          <a:solidFill>
            <a:srgbClr val="F6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rPr sz="1600" dirty="0"/>
              <a:t>€125M  Target 1% (SOM)</a:t>
            </a:r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8F269C9E-AF90-3B1A-BA4A-44F764589203}"/>
              </a:ext>
            </a:extLst>
          </p:cNvPr>
          <p:cNvSpPr/>
          <p:nvPr/>
        </p:nvSpPr>
        <p:spPr>
          <a:xfrm>
            <a:off x="8982295" y="2037658"/>
            <a:ext cx="27640" cy="5251564"/>
          </a:xfrm>
          <a:prstGeom prst="rect">
            <a:avLst/>
          </a:prstGeom>
          <a:solidFill>
            <a:srgbClr val="0D0626">
              <a:alpha val="50000"/>
            </a:srgbClr>
          </a:solidFill>
          <a:ln/>
        </p:spPr>
        <p:txBody>
          <a:bodyPr/>
          <a:lstStyle/>
          <a:p>
            <a:endParaRPr lang="en-GB">
              <a:latin typeface="Google Sans Flex" panose="020B0503030502040204"/>
              <a:ea typeface="Google Sans Flex" panose="020B0503030502040204" pitchFamily="34" charset="0"/>
              <a:cs typeface="Google Sans Flex" panose="020B0503030502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14400"/>
            <a:ext cx="1463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0" y="2011680"/>
            <a:ext cx="2743200" cy="54864"/>
          </a:xfrm>
          <a:prstGeom prst="rect">
            <a:avLst/>
          </a:prstGeom>
          <a:solidFill>
            <a:srgbClr val="E2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4630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E25B67"/>
                </a:solidFill>
                <a:latin typeface="Arial"/>
              </a:defRPr>
            </a:pPr>
            <a:r>
              <a:rPr dirty="0"/>
              <a:t>€1</a:t>
            </a:r>
            <a:r>
              <a:rPr lang="de-CH" dirty="0"/>
              <a:t>.5</a:t>
            </a:r>
            <a:r>
              <a:rPr dirty="0"/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FFFF"/>
                </a:solidFill>
                <a:latin typeface="Arial"/>
              </a:defRPr>
            </a:pPr>
            <a:r>
              <a:rPr dirty="0"/>
              <a:t>First enterprise pilots: Supply Chain &amp; Healthcare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303520"/>
            <a:ext cx="3017520" cy="9144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The whitepapers exists</a:t>
            </a:r>
          </a:p>
          <a:p>
            <a:pPr algn="ctr"/>
            <a:endParaRPr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5760720" y="5303520"/>
            <a:ext cx="3017520" cy="9144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The codebase exists.</a:t>
            </a:r>
          </a:p>
          <a:p>
            <a:pPr algn="ctr"/>
            <a:endParaRPr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9235440" y="5303520"/>
            <a:ext cx="3017520" cy="9144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The market gap exists.</a:t>
            </a:r>
          </a:p>
          <a:p>
            <a:pPr algn="ctr"/>
            <a:endParaRPr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6766560"/>
            <a:ext cx="1463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615D71"/>
                </a:solidFill>
                <a:latin typeface="Arial"/>
              </a:defRPr>
            </a:pPr>
            <a:r>
              <a:t>Trust infrastructure is not a feature -- it is the foundation.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7498079"/>
            <a:ext cx="1463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15D71"/>
                </a:solidFill>
                <a:latin typeface="Arial"/>
              </a:defRPr>
            </a:pPr>
            <a:r>
              <a:t>info@hypervolume.io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Custom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Google Sans Flex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Daniele Viero</cp:lastModifiedBy>
  <cp:revision>3</cp:revision>
  <dcterms:created xsi:type="dcterms:W3CDTF">2013-01-27T09:14:16Z</dcterms:created>
  <dcterms:modified xsi:type="dcterms:W3CDTF">2026-02-21T19:48:54Z</dcterms:modified>
  <cp:category/>
</cp:coreProperties>
</file>